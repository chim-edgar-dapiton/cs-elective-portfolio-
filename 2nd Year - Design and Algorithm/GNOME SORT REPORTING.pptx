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1" r:id="rId3"/>
    <p:sldId id="264" r:id="rId4"/>
    <p:sldId id="265" r:id="rId5"/>
    <p:sldId id="263" r:id="rId6"/>
    <p:sldId id="270" r:id="rId7"/>
    <p:sldId id="268" r:id="rId8"/>
    <p:sldId id="269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29" autoAdjust="0"/>
    <p:restoredTop sz="94660"/>
  </p:normalViewPr>
  <p:slideViewPr>
    <p:cSldViewPr snapToGrid="0">
      <p:cViewPr varScale="1">
        <p:scale>
          <a:sx n="79" d="100"/>
          <a:sy n="79" d="100"/>
        </p:scale>
        <p:origin x="3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F9B5A54C-0306-4C5A-B326-FBB549DAFD8F}" type="datetimeFigureOut">
              <a:rPr lang="en-PH" smtClean="0"/>
              <a:t>21/03/2026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F6FFC1CD-6C22-408A-8D3D-3B4691331E3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03317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5A54C-0306-4C5A-B326-FBB549DAFD8F}" type="datetimeFigureOut">
              <a:rPr lang="en-PH" smtClean="0"/>
              <a:t>21/03/2026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FC1CD-6C22-408A-8D3D-3B4691331E3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8880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9B5A54C-0306-4C5A-B326-FBB549DAFD8F}" type="datetimeFigureOut">
              <a:rPr lang="en-PH" smtClean="0"/>
              <a:t>21/03/2026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6FFC1CD-6C22-408A-8D3D-3B4691331E3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35463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5A54C-0306-4C5A-B326-FBB549DAFD8F}" type="datetimeFigureOut">
              <a:rPr lang="en-PH" smtClean="0"/>
              <a:t>21/03/2026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FC1CD-6C22-408A-8D3D-3B4691331E3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6680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5A54C-0306-4C5A-B326-FBB549DAFD8F}" type="datetimeFigureOut">
              <a:rPr lang="en-PH" smtClean="0"/>
              <a:t>21/03/2026</a:t>
            </a:fld>
            <a:endParaRPr lang="en-P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FC1CD-6C22-408A-8D3D-3B4691331E3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17211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5A54C-0306-4C5A-B326-FBB549DAFD8F}" type="datetimeFigureOut">
              <a:rPr lang="en-PH" smtClean="0"/>
              <a:t>21/03/2026</a:t>
            </a:fld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FC1CD-6C22-408A-8D3D-3B4691331E3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7053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5A54C-0306-4C5A-B326-FBB549DAFD8F}" type="datetimeFigureOut">
              <a:rPr lang="en-PH" smtClean="0"/>
              <a:t>21/03/2026</a:t>
            </a:fld>
            <a:endParaRPr lang="en-P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FC1CD-6C22-408A-8D3D-3B4691331E3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0486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5A54C-0306-4C5A-B326-FBB549DAFD8F}" type="datetimeFigureOut">
              <a:rPr lang="en-PH" smtClean="0"/>
              <a:t>21/03/2026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FC1CD-6C22-408A-8D3D-3B4691331E3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0237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5A54C-0306-4C5A-B326-FBB549DAFD8F}" type="datetimeFigureOut">
              <a:rPr lang="en-PH" smtClean="0"/>
              <a:t>21/03/2026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FC1CD-6C22-408A-8D3D-3B4691331E3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22803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5A54C-0306-4C5A-B326-FBB549DAFD8F}" type="datetimeFigureOut">
              <a:rPr lang="en-PH" smtClean="0"/>
              <a:t>21/03/2026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FC1CD-6C22-408A-8D3D-3B4691331E3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1504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9B5A54C-0306-4C5A-B326-FBB549DAFD8F}" type="datetimeFigureOut">
              <a:rPr lang="en-PH" smtClean="0"/>
              <a:t>21/03/2026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6FFC1CD-6C22-408A-8D3D-3B4691331E3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995742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9B5A54C-0306-4C5A-B326-FBB549DAFD8F}" type="datetimeFigureOut">
              <a:rPr lang="en-PH" smtClean="0"/>
              <a:t>21/03/2026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6FFC1CD-6C22-408A-8D3D-3B4691331E32}" type="slidenum">
              <a:rPr lang="en-PH" smtClean="0"/>
              <a:t>‹#›</a:t>
            </a:fld>
            <a:endParaRPr lang="en-PH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318813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9B5A54C-0306-4C5A-B326-FBB549DAFD8F}" type="datetimeFigureOut">
              <a:rPr lang="en-PH" smtClean="0"/>
              <a:t>21/03/2026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6FFC1CD-6C22-408A-8D3D-3B4691331E3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559556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5A54C-0306-4C5A-B326-FBB549DAFD8F}" type="datetimeFigureOut">
              <a:rPr lang="en-PH" smtClean="0"/>
              <a:t>21/03/2026</a:t>
            </a:fld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FC1CD-6C22-408A-8D3D-3B4691331E3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848472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5A54C-0306-4C5A-B326-FBB549DAFD8F}" type="datetimeFigureOut">
              <a:rPr lang="en-PH" smtClean="0"/>
              <a:t>21/03/2026</a:t>
            </a:fld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FC1CD-6C22-408A-8D3D-3B4691331E3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376007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5A54C-0306-4C5A-B326-FBB549DAFD8F}" type="datetimeFigureOut">
              <a:rPr lang="en-PH" smtClean="0"/>
              <a:t>21/03/2026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FC1CD-6C22-408A-8D3D-3B4691331E3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433342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9B5A54C-0306-4C5A-B326-FBB549DAFD8F}" type="datetimeFigureOut">
              <a:rPr lang="en-PH" smtClean="0"/>
              <a:t>21/03/2026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F6FFC1CD-6C22-408A-8D3D-3B4691331E3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17549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B5A54C-0306-4C5A-B326-FBB549DAFD8F}" type="datetimeFigureOut">
              <a:rPr lang="en-PH" smtClean="0"/>
              <a:t>21/03/2026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FFC1CD-6C22-408A-8D3D-3B4691331E32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011808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6D8A5-0364-4C33-00F8-F1B6B00088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2055008"/>
            <a:ext cx="9448800" cy="1825096"/>
          </a:xfrm>
        </p:spPr>
        <p:txBody>
          <a:bodyPr/>
          <a:lstStyle/>
          <a:p>
            <a:pPr algn="ctr"/>
            <a:r>
              <a:rPr lang="en-PH" b="1" dirty="0"/>
              <a:t>GNOME SORT </a:t>
            </a:r>
          </a:p>
        </p:txBody>
      </p:sp>
    </p:spTree>
    <p:extLst>
      <p:ext uri="{BB962C8B-B14F-4D97-AF65-F5344CB8AC3E}">
        <p14:creationId xmlns:p14="http://schemas.microsoft.com/office/powerpoint/2010/main" val="2306122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F39B6-1B5C-155A-70D1-BC47BD077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CBAE8-789D-8D1D-B57A-8F3E1D0BE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WHAT IS GNOME SORT?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A8F01-86C1-855A-652E-C2E321A8BA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Gnome Sort is a simple comparison-based sorting algorithm. It mimics how a garden gnome might sort flower pots on a line: the "gnome" walks along the array, swapping adjacent elements if they're out of order, then steps back to check the previous position again (because the swap might have created a new problem behind it). It's very similar to insertion sort but uses swaps and backtracking instead of shifting</a:t>
            </a:r>
            <a:endParaRPr lang="en-PH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875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7E7B5-3CC6-F22E-15EA-8FC8DDDDD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660" y="802366"/>
            <a:ext cx="8315024" cy="761740"/>
          </a:xfrm>
        </p:spPr>
        <p:txBody>
          <a:bodyPr>
            <a:normAutofit/>
          </a:bodyPr>
          <a:lstStyle/>
          <a:p>
            <a:pPr algn="l"/>
            <a:r>
              <a:rPr lang="en-PH" b="1" dirty="0"/>
              <a:t>How it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7D4AA3-02F0-7EB6-3951-3F05E718A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8660" y="1989222"/>
            <a:ext cx="10774680" cy="4399546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Step 1: Start at the beginning of the list (index = 0).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Step 2: Move to the next position (index = 1).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Step 3: Compare the current element with the previous one.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Step 4: If the current element is greater than or equal to the previous → move forward (index + 1)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the current element is smaller → swap the two elements.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Step 5: After swapping: Move one step back (index - 1)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Step 6: If you reach the beginning again (index = 0), move forward to index = 1.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Step 7: Repeat Steps 3–6 until you reach the end of the list.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Step 8: When you reach the end, the list is sorted </a:t>
            </a:r>
            <a:endParaRPr lang="en-PH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563470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75936-3F92-63C1-94D7-DAEC18CCC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PH" dirty="0">
                <a:latin typeface="Arial" panose="020B0604020202020204" pitchFamily="34" charset="0"/>
                <a:cs typeface="Arial" panose="020B0604020202020204" pitchFamily="34" charset="0"/>
              </a:rPr>
              <a:t>Gnome Sort: Pros and Cons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6706CA-31DB-1438-99E8-FE23856846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H" dirty="0">
                <a:latin typeface="Arial" panose="020B0604020202020204" pitchFamily="34" charset="0"/>
                <a:cs typeface="Arial" panose="020B0604020202020204" pitchFamily="34" charset="0"/>
              </a:rPr>
              <a:t>Advantages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170740-082F-D8FA-A0C3-8FB11DE29D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625" y="3132665"/>
            <a:ext cx="5311775" cy="3086019"/>
          </a:xfrm>
        </p:spPr>
        <p:txBody>
          <a:bodyPr/>
          <a:lstStyle/>
          <a:p>
            <a:r>
              <a:rPr lang="en-PH" dirty="0">
                <a:latin typeface="Arial" panose="020B0604020202020204" pitchFamily="34" charset="0"/>
                <a:cs typeface="Arial" panose="020B0604020202020204" pitchFamily="34" charset="0"/>
              </a:rPr>
              <a:t>Simple implementation with minimal memory usage, ideal for small, datasets and teaching sorting concepts effectively to beginners.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B7440C-4D86-CDDD-6EE1-FE81CCAD7D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PH" dirty="0"/>
              <a:t>Disadvantages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8869A8-CAA5-BB6B-1EAA-8E533B54533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PH" dirty="0"/>
              <a:t>Slow performance on large datasets with poor time complexity, inefficient compared to </a:t>
            </a:r>
            <a:r>
              <a:rPr lang="en-PH" dirty="0" err="1"/>
              <a:t>QuickSort</a:t>
            </a:r>
            <a:r>
              <a:rPr lang="en-PH" dirty="0"/>
              <a:t> or </a:t>
            </a:r>
            <a:r>
              <a:rPr lang="en-PH" dirty="0" err="1"/>
              <a:t>MergeSort</a:t>
            </a:r>
            <a:r>
              <a:rPr lang="en-PH" dirty="0"/>
              <a:t> algorithm.</a:t>
            </a:r>
          </a:p>
        </p:txBody>
      </p:sp>
    </p:spTree>
    <p:extLst>
      <p:ext uri="{BB962C8B-B14F-4D97-AF65-F5344CB8AC3E}">
        <p14:creationId xmlns:p14="http://schemas.microsoft.com/office/powerpoint/2010/main" val="3572910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0F56D-B807-F9A2-D5AC-AF93805B0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4015" y="553221"/>
            <a:ext cx="8610599" cy="1303867"/>
          </a:xfrm>
        </p:spPr>
        <p:txBody>
          <a:bodyPr/>
          <a:lstStyle/>
          <a:p>
            <a:r>
              <a:rPr lang="en-PH" dirty="0"/>
              <a:t>Time Complexity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996B21-2F58-848A-651F-7069DB070D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50720"/>
            <a:ext cx="3456432" cy="868680"/>
          </a:xfrm>
        </p:spPr>
        <p:txBody>
          <a:bodyPr/>
          <a:lstStyle/>
          <a:p>
            <a:r>
              <a:rPr lang="en-PH" sz="2200" b="1" dirty="0">
                <a:latin typeface="Arial" panose="020B0604020202020204" pitchFamily="34" charset="0"/>
                <a:cs typeface="Arial" panose="020B0604020202020204" pitchFamily="34" charset="0"/>
              </a:rPr>
              <a:t>WORSE-CASE: O(n</a:t>
            </a:r>
            <a:r>
              <a:rPr lang="en-PH" sz="22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PH" sz="22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D9CDF6-CD51-D8E2-4282-9E7D73B996BD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PH" sz="2200" dirty="0">
                <a:latin typeface="Arial" panose="020B0604020202020204" pitchFamily="34" charset="0"/>
                <a:cs typeface="Arial" panose="020B0604020202020204" pitchFamily="34" charset="0"/>
              </a:rPr>
              <a:t>This happens when the array is in reverse order, the gnome has to move elements very far back multiple times.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PH" sz="2200" dirty="0">
                <a:latin typeface="Arial" panose="020B0604020202020204" pitchFamily="34" charset="0"/>
                <a:cs typeface="Arial" panose="020B0604020202020204" pitchFamily="34" charset="0"/>
              </a:rPr>
              <a:t>Reverse sorted – many back and forth movements.</a:t>
            </a:r>
          </a:p>
          <a:p>
            <a:endParaRPr lang="en-PH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568140-77BA-101D-D50C-BD4B5FA08C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368800" y="1950720"/>
            <a:ext cx="3456432" cy="877147"/>
          </a:xfrm>
        </p:spPr>
        <p:txBody>
          <a:bodyPr/>
          <a:lstStyle/>
          <a:p>
            <a:r>
              <a:rPr lang="en-PH" sz="2200" b="1" dirty="0">
                <a:latin typeface="Arial" panose="020B0604020202020204" pitchFamily="34" charset="0"/>
                <a:cs typeface="Arial" panose="020B0604020202020204" pitchFamily="34" charset="0"/>
              </a:rPr>
              <a:t>AVERAGE-CASE: O(n</a:t>
            </a:r>
            <a:r>
              <a:rPr lang="en-PH" sz="2200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PH" sz="22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7CC229-73D7-EC5B-150B-245780E1A635}"/>
              </a:ext>
            </a:extLst>
          </p:cNvPr>
          <p:cNvSpPr>
            <a:spLocks noGrp="1"/>
          </p:cNvSpPr>
          <p:nvPr>
            <p:ph type="body" sz="half" idx="16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PH" sz="2200" dirty="0">
                <a:latin typeface="Arial" panose="020B0604020202020204" pitchFamily="34" charset="0"/>
                <a:cs typeface="Arial" panose="020B0604020202020204" pitchFamily="34" charset="0"/>
              </a:rPr>
              <a:t>For randomly ordered input, the total number of comparisons and swaps is quadratic on average, similar to bubble sort or a variant of insertion sort.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PH" sz="2200" dirty="0">
                <a:latin typeface="Arial" panose="020B0604020202020204" pitchFamily="34" charset="0"/>
                <a:cs typeface="Arial" panose="020B0604020202020204" pitchFamily="34" charset="0"/>
              </a:rPr>
              <a:t>Random input – quadratic like bubble sort.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B95A32F-05B2-A7EF-3A74-8C9C38A8DF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51800" y="1942253"/>
            <a:ext cx="3456432" cy="877147"/>
          </a:xfrm>
        </p:spPr>
        <p:txBody>
          <a:bodyPr/>
          <a:lstStyle/>
          <a:p>
            <a:r>
              <a:rPr lang="en-PH" sz="2200" b="1" dirty="0">
                <a:latin typeface="Arial" panose="020B0604020202020204" pitchFamily="34" charset="0"/>
                <a:cs typeface="Arial" panose="020B0604020202020204" pitchFamily="34" charset="0"/>
              </a:rPr>
              <a:t>BEST-CASE: O(n)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E3FD192-7322-82E6-1020-81B32C3C609A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PH" sz="2200" dirty="0">
                <a:latin typeface="Arial" panose="020B0604020202020204" pitchFamily="34" charset="0"/>
                <a:cs typeface="Arial" panose="020B0604020202020204" pitchFamily="34" charset="0"/>
              </a:rPr>
              <a:t>When the array is already sorted or nearly sorted, the gnome just walks through once with almost no backtracking.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PH" sz="2200" dirty="0">
                <a:latin typeface="Arial" panose="020B0604020202020204" pitchFamily="34" charset="0"/>
                <a:cs typeface="Arial" panose="020B0604020202020204" pitchFamily="34" charset="0"/>
              </a:rPr>
              <a:t>Already or almost sorted – very fast, linear pass.</a:t>
            </a:r>
          </a:p>
        </p:txBody>
      </p:sp>
    </p:spTree>
    <p:extLst>
      <p:ext uri="{BB962C8B-B14F-4D97-AF65-F5344CB8AC3E}">
        <p14:creationId xmlns:p14="http://schemas.microsoft.com/office/powerpoint/2010/main" val="4119746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7BB20-764C-6EBD-54BF-7FF2C5EC8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1808" y="822195"/>
            <a:ext cx="1548384" cy="531117"/>
          </a:xfrm>
        </p:spPr>
        <p:txBody>
          <a:bodyPr>
            <a:normAutofit/>
          </a:bodyPr>
          <a:lstStyle/>
          <a:p>
            <a:r>
              <a:rPr lang="en-PH" sz="3000" b="1" dirty="0">
                <a:latin typeface="Arial" panose="020B0604020202020204" pitchFamily="34" charset="0"/>
                <a:cs typeface="Arial" panose="020B0604020202020204" pitchFamily="34" charset="0"/>
              </a:rPr>
              <a:t>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9727A-A71B-F08D-A900-96BB2457DB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1560" y="1353312"/>
            <a:ext cx="7543800" cy="529132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PH" sz="2000" dirty="0">
                <a:latin typeface="Arial" panose="020B0604020202020204" pitchFamily="34" charset="0"/>
                <a:cs typeface="Arial" panose="020B0604020202020204" pitchFamily="34" charset="0"/>
              </a:rPr>
              <a:t>void </a:t>
            </a:r>
            <a:r>
              <a:rPr lang="en-PH" sz="2000" dirty="0" err="1">
                <a:latin typeface="Arial" panose="020B0604020202020204" pitchFamily="34" charset="0"/>
                <a:cs typeface="Arial" panose="020B0604020202020204" pitchFamily="34" charset="0"/>
              </a:rPr>
              <a:t>gnome_sort</a:t>
            </a:r>
            <a:r>
              <a:rPr lang="en-PH" sz="2000" dirty="0">
                <a:latin typeface="Arial" panose="020B0604020202020204" pitchFamily="34" charset="0"/>
                <a:cs typeface="Arial" panose="020B0604020202020204" pitchFamily="34" charset="0"/>
              </a:rPr>
              <a:t>(int </a:t>
            </a:r>
            <a:r>
              <a:rPr lang="en-PH" sz="2000" dirty="0" err="1">
                <a:latin typeface="Arial" panose="020B0604020202020204" pitchFamily="34" charset="0"/>
                <a:cs typeface="Arial" panose="020B0604020202020204" pitchFamily="34" charset="0"/>
              </a:rPr>
              <a:t>arr</a:t>
            </a:r>
            <a:r>
              <a:rPr lang="en-PH" sz="2000" dirty="0">
                <a:latin typeface="Arial" panose="020B0604020202020204" pitchFamily="34" charset="0"/>
                <a:cs typeface="Arial" panose="020B0604020202020204" pitchFamily="34" charset="0"/>
              </a:rPr>
              <a:t>[], int n) {</a:t>
            </a:r>
          </a:p>
          <a:p>
            <a:pPr marL="0" indent="0">
              <a:buNone/>
            </a:pPr>
            <a:r>
              <a:rPr lang="en-PH" sz="2000" dirty="0">
                <a:latin typeface="Arial" panose="020B0604020202020204" pitchFamily="34" charset="0"/>
                <a:cs typeface="Arial" panose="020B0604020202020204" pitchFamily="34" charset="0"/>
              </a:rPr>
              <a:t>    int </a:t>
            </a:r>
            <a:r>
              <a:rPr lang="en-PH" sz="2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PH" sz="2000" dirty="0">
                <a:latin typeface="Arial" panose="020B0604020202020204" pitchFamily="34" charset="0"/>
                <a:cs typeface="Arial" panose="020B0604020202020204" pitchFamily="34" charset="0"/>
              </a:rPr>
              <a:t> = 0;</a:t>
            </a:r>
          </a:p>
          <a:p>
            <a:pPr marL="0" indent="0">
              <a:buNone/>
            </a:pPr>
            <a:r>
              <a:rPr lang="en-PH" sz="2000" dirty="0">
                <a:latin typeface="Arial" panose="020B0604020202020204" pitchFamily="34" charset="0"/>
                <a:cs typeface="Arial" panose="020B0604020202020204" pitchFamily="34" charset="0"/>
              </a:rPr>
              <a:t>    while (</a:t>
            </a:r>
            <a:r>
              <a:rPr lang="en-PH" sz="2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PH" sz="2000" dirty="0">
                <a:latin typeface="Arial" panose="020B0604020202020204" pitchFamily="34" charset="0"/>
                <a:cs typeface="Arial" panose="020B0604020202020204" pitchFamily="34" charset="0"/>
              </a:rPr>
              <a:t> &lt; n) {</a:t>
            </a:r>
          </a:p>
          <a:p>
            <a:pPr marL="0" indent="0">
              <a:buNone/>
            </a:pPr>
            <a:r>
              <a:rPr lang="en-PH" sz="2000" dirty="0">
                <a:latin typeface="Arial" panose="020B0604020202020204" pitchFamily="34" charset="0"/>
                <a:cs typeface="Arial" panose="020B0604020202020204" pitchFamily="34" charset="0"/>
              </a:rPr>
              <a:t>        if (</a:t>
            </a:r>
            <a:r>
              <a:rPr lang="en-PH" sz="2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PH" sz="2000" dirty="0">
                <a:latin typeface="Arial" panose="020B0604020202020204" pitchFamily="34" charset="0"/>
                <a:cs typeface="Arial" panose="020B0604020202020204" pitchFamily="34" charset="0"/>
              </a:rPr>
              <a:t> == 0 || </a:t>
            </a:r>
            <a:r>
              <a:rPr lang="en-PH" sz="2000" dirty="0" err="1">
                <a:latin typeface="Arial" panose="020B0604020202020204" pitchFamily="34" charset="0"/>
                <a:cs typeface="Arial" panose="020B0604020202020204" pitchFamily="34" charset="0"/>
              </a:rPr>
              <a:t>arr</a:t>
            </a:r>
            <a:r>
              <a:rPr lang="en-PH" sz="2000" dirty="0"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en-PH" sz="2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PH" sz="2000" dirty="0">
                <a:latin typeface="Arial" panose="020B0604020202020204" pitchFamily="34" charset="0"/>
                <a:cs typeface="Arial" panose="020B0604020202020204" pitchFamily="34" charset="0"/>
              </a:rPr>
              <a:t>] &gt;= </a:t>
            </a:r>
            <a:r>
              <a:rPr lang="en-PH" sz="2000" dirty="0" err="1">
                <a:latin typeface="Arial" panose="020B0604020202020204" pitchFamily="34" charset="0"/>
                <a:cs typeface="Arial" panose="020B0604020202020204" pitchFamily="34" charset="0"/>
              </a:rPr>
              <a:t>arr</a:t>
            </a:r>
            <a:r>
              <a:rPr lang="en-PH" sz="2000" dirty="0">
                <a:latin typeface="Arial" panose="020B0604020202020204" pitchFamily="34" charset="0"/>
                <a:cs typeface="Arial" panose="020B0604020202020204" pitchFamily="34" charset="0"/>
              </a:rPr>
              <a:t>[i-1])</a:t>
            </a:r>
          </a:p>
          <a:p>
            <a:pPr marL="0" indent="0">
              <a:buNone/>
            </a:pPr>
            <a:r>
              <a:rPr lang="en-PH" sz="2000" dirty="0">
                <a:latin typeface="Arial" panose="020B0604020202020204" pitchFamily="34" charset="0"/>
                <a:cs typeface="Arial" panose="020B0604020202020204" pitchFamily="34" charset="0"/>
              </a:rPr>
              <a:t>            </a:t>
            </a:r>
            <a:r>
              <a:rPr lang="en-PH" sz="2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PH" sz="2000" dirty="0">
                <a:latin typeface="Arial" panose="020B0604020202020204" pitchFamily="34" charset="0"/>
                <a:cs typeface="Arial" panose="020B0604020202020204" pitchFamily="34" charset="0"/>
              </a:rPr>
              <a:t>++;           // correct order → move forward</a:t>
            </a:r>
          </a:p>
          <a:p>
            <a:pPr marL="0" indent="0">
              <a:buNone/>
            </a:pPr>
            <a:r>
              <a:rPr lang="en-PH" sz="2000" dirty="0">
                <a:latin typeface="Arial" panose="020B0604020202020204" pitchFamily="34" charset="0"/>
                <a:cs typeface="Arial" panose="020B0604020202020204" pitchFamily="34" charset="0"/>
              </a:rPr>
              <a:t>        else {</a:t>
            </a:r>
          </a:p>
          <a:p>
            <a:pPr marL="0" indent="0">
              <a:buNone/>
            </a:pPr>
            <a:r>
              <a:rPr lang="en-PH" sz="2000" dirty="0">
                <a:latin typeface="Arial" panose="020B0604020202020204" pitchFamily="34" charset="0"/>
                <a:cs typeface="Arial" panose="020B0604020202020204" pitchFamily="34" charset="0"/>
              </a:rPr>
              <a:t>            // swap &amp; go back</a:t>
            </a:r>
          </a:p>
          <a:p>
            <a:pPr marL="0" indent="0">
              <a:buNone/>
            </a:pPr>
            <a:r>
              <a:rPr lang="en-PH" sz="2000" dirty="0">
                <a:latin typeface="Arial" panose="020B0604020202020204" pitchFamily="34" charset="0"/>
                <a:cs typeface="Arial" panose="020B0604020202020204" pitchFamily="34" charset="0"/>
              </a:rPr>
              <a:t>            int temp = </a:t>
            </a:r>
            <a:r>
              <a:rPr lang="en-PH" sz="2000" dirty="0" err="1">
                <a:latin typeface="Arial" panose="020B0604020202020204" pitchFamily="34" charset="0"/>
                <a:cs typeface="Arial" panose="020B0604020202020204" pitchFamily="34" charset="0"/>
              </a:rPr>
              <a:t>arr</a:t>
            </a:r>
            <a:r>
              <a:rPr lang="en-PH" sz="2000" dirty="0"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en-PH" sz="2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PH" sz="2000" dirty="0">
                <a:latin typeface="Arial" panose="020B0604020202020204" pitchFamily="34" charset="0"/>
                <a:cs typeface="Arial" panose="020B0604020202020204" pitchFamily="34" charset="0"/>
              </a:rPr>
              <a:t>];</a:t>
            </a:r>
          </a:p>
          <a:p>
            <a:pPr marL="0" indent="0">
              <a:buNone/>
            </a:pPr>
            <a:r>
              <a:rPr lang="en-PH" sz="2000" dirty="0">
                <a:latin typeface="Arial" panose="020B0604020202020204" pitchFamily="34" charset="0"/>
                <a:cs typeface="Arial" panose="020B0604020202020204" pitchFamily="34" charset="0"/>
              </a:rPr>
              <a:t>            </a:t>
            </a:r>
            <a:r>
              <a:rPr lang="en-PH" sz="2000" dirty="0" err="1">
                <a:latin typeface="Arial" panose="020B0604020202020204" pitchFamily="34" charset="0"/>
                <a:cs typeface="Arial" panose="020B0604020202020204" pitchFamily="34" charset="0"/>
              </a:rPr>
              <a:t>arr</a:t>
            </a:r>
            <a:r>
              <a:rPr lang="en-PH" sz="2000" dirty="0"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en-PH" sz="2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PH" sz="2000" dirty="0">
                <a:latin typeface="Arial" panose="020B0604020202020204" pitchFamily="34" charset="0"/>
                <a:cs typeface="Arial" panose="020B0604020202020204" pitchFamily="34" charset="0"/>
              </a:rPr>
              <a:t>] = </a:t>
            </a:r>
            <a:r>
              <a:rPr lang="en-PH" sz="2000" dirty="0" err="1">
                <a:latin typeface="Arial" panose="020B0604020202020204" pitchFamily="34" charset="0"/>
                <a:cs typeface="Arial" panose="020B0604020202020204" pitchFamily="34" charset="0"/>
              </a:rPr>
              <a:t>arr</a:t>
            </a:r>
            <a:r>
              <a:rPr lang="en-PH" sz="2000" dirty="0">
                <a:latin typeface="Arial" panose="020B0604020202020204" pitchFamily="34" charset="0"/>
                <a:cs typeface="Arial" panose="020B0604020202020204" pitchFamily="34" charset="0"/>
              </a:rPr>
              <a:t>[i-1];</a:t>
            </a:r>
          </a:p>
          <a:p>
            <a:pPr marL="0" indent="0">
              <a:buNone/>
            </a:pPr>
            <a:r>
              <a:rPr lang="en-PH" sz="2000" dirty="0">
                <a:latin typeface="Arial" panose="020B0604020202020204" pitchFamily="34" charset="0"/>
                <a:cs typeface="Arial" panose="020B0604020202020204" pitchFamily="34" charset="0"/>
              </a:rPr>
              <a:t>            </a:t>
            </a:r>
            <a:r>
              <a:rPr lang="en-PH" sz="2000" dirty="0" err="1">
                <a:latin typeface="Arial" panose="020B0604020202020204" pitchFamily="34" charset="0"/>
                <a:cs typeface="Arial" panose="020B0604020202020204" pitchFamily="34" charset="0"/>
              </a:rPr>
              <a:t>arr</a:t>
            </a:r>
            <a:r>
              <a:rPr lang="en-PH" sz="2000" dirty="0">
                <a:latin typeface="Arial" panose="020B0604020202020204" pitchFamily="34" charset="0"/>
                <a:cs typeface="Arial" panose="020B0604020202020204" pitchFamily="34" charset="0"/>
              </a:rPr>
              <a:t>[i-1] = temp;</a:t>
            </a:r>
          </a:p>
          <a:p>
            <a:pPr marL="0" indent="0">
              <a:buNone/>
            </a:pPr>
            <a:r>
              <a:rPr lang="en-PH" sz="2000" dirty="0">
                <a:latin typeface="Arial" panose="020B0604020202020204" pitchFamily="34" charset="0"/>
                <a:cs typeface="Arial" panose="020B0604020202020204" pitchFamily="34" charset="0"/>
              </a:rPr>
              <a:t>            </a:t>
            </a:r>
            <a:r>
              <a:rPr lang="en-PH" sz="2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PH" sz="2000" dirty="0">
                <a:latin typeface="Arial" panose="020B0604020202020204" pitchFamily="34" charset="0"/>
                <a:cs typeface="Arial" panose="020B0604020202020204" pitchFamily="34" charset="0"/>
              </a:rPr>
              <a:t>--;</a:t>
            </a:r>
          </a:p>
          <a:p>
            <a:pPr marL="0" indent="0">
              <a:buNone/>
            </a:pPr>
            <a:r>
              <a:rPr lang="en-PH" sz="2000" dirty="0">
                <a:latin typeface="Arial" panose="020B0604020202020204" pitchFamily="34" charset="0"/>
                <a:cs typeface="Arial" panose="020B0604020202020204" pitchFamily="34" charset="0"/>
              </a:rPr>
              <a:t>        }</a:t>
            </a:r>
          </a:p>
          <a:p>
            <a:pPr marL="0" indent="0">
              <a:buNone/>
            </a:pPr>
            <a:r>
              <a:rPr lang="en-PH" sz="2000" dirty="0">
                <a:latin typeface="Arial" panose="020B0604020202020204" pitchFamily="34" charset="0"/>
                <a:cs typeface="Arial" panose="020B0604020202020204" pitchFamily="34" charset="0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8266257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C25D9-6AA4-8B0B-F51E-C1E45FE5C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EEF7C-A10B-FEFD-E1C6-E0EB792F2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5785" y="660953"/>
            <a:ext cx="6743700" cy="546055"/>
          </a:xfrm>
        </p:spPr>
        <p:txBody>
          <a:bodyPr>
            <a:normAutofit/>
          </a:bodyPr>
          <a:lstStyle/>
          <a:p>
            <a:r>
              <a:rPr lang="en-PH" sz="2600" b="1" dirty="0">
                <a:latin typeface="Arial" panose="020B0604020202020204" pitchFamily="34" charset="0"/>
                <a:cs typeface="Arial" panose="020B0604020202020204" pitchFamily="34" charset="0"/>
              </a:rPr>
              <a:t> GNOME SORT GIF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DDD55E-A8CE-B0AB-F53F-CD770CC942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515" y="1584960"/>
            <a:ext cx="10126970" cy="4794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4631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485A5-FA5F-A4AC-A402-53B98BF48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0700" y="2782486"/>
            <a:ext cx="8610600" cy="1293028"/>
          </a:xfrm>
        </p:spPr>
        <p:txBody>
          <a:bodyPr/>
          <a:lstStyle/>
          <a:p>
            <a:pPr algn="ctr"/>
            <a:r>
              <a:rPr lang="en-PH" b="1" dirty="0"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179863994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1398</TotalTime>
  <Words>491</Words>
  <Application>Microsoft Office PowerPoint</Application>
  <PresentationFormat>Widescreen</PresentationFormat>
  <Paragraphs>45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Century Gothic</vt:lpstr>
      <vt:lpstr>Vapor Trail</vt:lpstr>
      <vt:lpstr>GNOME SORT </vt:lpstr>
      <vt:lpstr>WHAT IS GNOME SORT?</vt:lpstr>
      <vt:lpstr>How it works</vt:lpstr>
      <vt:lpstr>Gnome Sort: Pros and Cons</vt:lpstr>
      <vt:lpstr>Time Complexity</vt:lpstr>
      <vt:lpstr>code</vt:lpstr>
      <vt:lpstr> GNOME SORT GIF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Ma. Catherine Piquero</dc:creator>
  <cp:lastModifiedBy>Ma. Catherine Piquero</cp:lastModifiedBy>
  <cp:revision>6</cp:revision>
  <dcterms:created xsi:type="dcterms:W3CDTF">2026-03-20T01:49:03Z</dcterms:created>
  <dcterms:modified xsi:type="dcterms:W3CDTF">2026-03-21T01:12:12Z</dcterms:modified>
</cp:coreProperties>
</file>